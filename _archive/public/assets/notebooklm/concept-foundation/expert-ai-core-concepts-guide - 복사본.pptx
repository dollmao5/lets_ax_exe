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2621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BD7"/>
    <a:srgbClr val="D6DBCE"/>
    <a:srgbClr val="211D1A"/>
    <a:srgbClr val="2A2622"/>
    <a:srgbClr val="F1F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56" y="-6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ert-ai-core-concepts-guide - 복사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28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CECDD0D-A966-871E-89D7-B5FE3BFF0293}"/>
              </a:ext>
            </a:extLst>
          </p:cNvPr>
          <p:cNvSpPr/>
          <p:nvPr/>
        </p:nvSpPr>
        <p:spPr>
          <a:xfrm>
            <a:off x="457200" y="4641850"/>
            <a:ext cx="3619500" cy="863600"/>
          </a:xfrm>
          <a:prstGeom prst="rect">
            <a:avLst/>
          </a:prstGeom>
          <a:solidFill>
            <a:srgbClr val="F1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방대한 텍스트를 학습하여 언어를 이해하고 생성하는 대규모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AI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모델</a:t>
            </a:r>
            <a:b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</a:b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•</a:t>
            </a:r>
            <a:r>
              <a:rPr lang="en-US" altLang="ko-KR" b="1" dirty="0">
                <a:latin typeface="LG Smart UI Bold" panose="020B0800000101010101" pitchFamily="34" charset="-127"/>
                <a:ea typeface="LG Smart UI Bold" panose="020B0800000101010101" pitchFamily="34" charset="-127"/>
              </a:rPr>
              <a:t> 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Gemini, GPT-5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가 대표 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LLM</a:t>
            </a:r>
            <a:b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</a:b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• 100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만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+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</a:rPr>
              <a:t>토큰 문서 한 번에 분석 가능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8BCC1-C498-1DCF-BC64-504A8D89DED5}"/>
              </a:ext>
            </a:extLst>
          </p:cNvPr>
          <p:cNvSpPr/>
          <p:nvPr/>
        </p:nvSpPr>
        <p:spPr>
          <a:xfrm>
            <a:off x="2343150" y="6870700"/>
            <a:ext cx="2514600" cy="1111250"/>
          </a:xfrm>
          <a:prstGeom prst="rect">
            <a:avLst/>
          </a:prstGeom>
          <a:solidFill>
            <a:srgbClr val="F1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사용자의 질문에 답하거나 단일 작업을 수행하는 도우미로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매번 사람이 지시를 내려야 작업합니다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D4C870-B8C3-C0FD-6C2C-3E89617D23B5}"/>
              </a:ext>
            </a:extLst>
          </p:cNvPr>
          <p:cNvSpPr/>
          <p:nvPr/>
        </p:nvSpPr>
        <p:spPr>
          <a:xfrm>
            <a:off x="2343150" y="9067800"/>
            <a:ext cx="2514600" cy="1111250"/>
          </a:xfrm>
          <a:prstGeom prst="rect">
            <a:avLst/>
          </a:prstGeom>
          <a:solidFill>
            <a:srgbClr val="F1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목표를 부여 받으면 스스로 계획하고 도구를 활용하여 작업을 완수하는 자율적인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시스템입니다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7F94E-5AB3-C76B-450B-594B9D466BC6}"/>
              </a:ext>
            </a:extLst>
          </p:cNvPr>
          <p:cNvSpPr/>
          <p:nvPr/>
        </p:nvSpPr>
        <p:spPr>
          <a:xfrm>
            <a:off x="11239500" y="5645150"/>
            <a:ext cx="3162300" cy="1111250"/>
          </a:xfrm>
          <a:prstGeom prst="rect">
            <a:avLst/>
          </a:prstGeom>
          <a:solidFill>
            <a:srgbClr val="F1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에게 원하는 결과를 정확하게 얻기 위해 질문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/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지시문을 설계하는 기술입니다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9FF541-581E-F36C-291D-EC47980251DF}"/>
              </a:ext>
            </a:extLst>
          </p:cNvPr>
          <p:cNvSpPr/>
          <p:nvPr/>
        </p:nvSpPr>
        <p:spPr>
          <a:xfrm>
            <a:off x="11336482" y="9302516"/>
            <a:ext cx="3082636" cy="1257769"/>
          </a:xfrm>
          <a:prstGeom prst="rect">
            <a:avLst/>
          </a:prstGeom>
          <a:solidFill>
            <a:srgbClr val="F1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가 확률적으로 그럴듯하지만 사실이 아닌 거짓 정보를 생성하는 현상으로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가짜 논문 인용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거짓 통계제시 등을 들 수 있습니다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RAG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으로 위험을 감소시킵니다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8F1C9B-BCDF-E9B9-1098-4FF938690383}"/>
              </a:ext>
            </a:extLst>
          </p:cNvPr>
          <p:cNvSpPr/>
          <p:nvPr/>
        </p:nvSpPr>
        <p:spPr>
          <a:xfrm>
            <a:off x="105484" y="15989066"/>
            <a:ext cx="2802396" cy="1257769"/>
          </a:xfrm>
          <a:prstGeom prst="rect">
            <a:avLst/>
          </a:prstGeom>
          <a:solidFill>
            <a:srgbClr val="D6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가 텍스트를 처리하는 최소단위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–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비용과 용량의 기본 척도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한국어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1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자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~2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토큰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100M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토큰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~700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페이지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820789-3B0F-5137-2105-91F03D8B75EE}"/>
              </a:ext>
            </a:extLst>
          </p:cNvPr>
          <p:cNvSpPr/>
          <p:nvPr/>
        </p:nvSpPr>
        <p:spPr>
          <a:xfrm>
            <a:off x="2926616" y="15980500"/>
            <a:ext cx="2837033" cy="1039478"/>
          </a:xfrm>
          <a:prstGeom prst="rect">
            <a:avLst/>
          </a:prstGeom>
          <a:solidFill>
            <a:srgbClr val="D6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텍스트・이미지를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가 이해하는 숫자 벡터로 변환하는 기술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의미적 유사성 보존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: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“CEO”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  <a:sym typeface="Wingdings" panose="05000000000000000000" pitchFamily="2" charset="2"/>
              </a:rPr>
              <a:t>가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  <a:sym typeface="Wingdings" panose="05000000000000000000" pitchFamily="2" charset="2"/>
              </a:rPr>
              <a:t>”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  <a:sym typeface="Wingdings" panose="05000000000000000000" pitchFamily="2" charset="2"/>
              </a:rPr>
              <a:t>최고경영자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  <a:sym typeface="Wingdings" panose="05000000000000000000" pitchFamily="2" charset="2"/>
              </a:rPr>
              <a:t>”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  <a:sym typeface="Wingdings" panose="05000000000000000000" pitchFamily="2" charset="2"/>
              </a:rPr>
              <a:t>유사함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6F0440-329E-574B-5123-29652148E635}"/>
              </a:ext>
            </a:extLst>
          </p:cNvPr>
          <p:cNvSpPr/>
          <p:nvPr/>
        </p:nvSpPr>
        <p:spPr>
          <a:xfrm>
            <a:off x="5938957" y="15713075"/>
            <a:ext cx="3395543" cy="1039478"/>
          </a:xfrm>
          <a:prstGeom prst="rect">
            <a:avLst/>
          </a:prstGeom>
          <a:solidFill>
            <a:srgbClr val="D6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서로 다른 소프트웨어가 기능을 주고받는 인터페이스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(</a:t>
            </a:r>
            <a:r>
              <a:rPr lang="ko-KR" altLang="en-US" b="1" dirty="0" err="1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메뉴판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 비유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).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수천건의 데이터를 일괄 처리 가능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채팅화면 밖에서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를 통합하게 함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658593-C940-0A7A-7FF4-647D868614F6}"/>
              </a:ext>
            </a:extLst>
          </p:cNvPr>
          <p:cNvSpPr/>
          <p:nvPr/>
        </p:nvSpPr>
        <p:spPr>
          <a:xfrm>
            <a:off x="11326163" y="16279927"/>
            <a:ext cx="3082637" cy="1039478"/>
          </a:xfrm>
          <a:prstGeom prst="rect">
            <a:avLst/>
          </a:prstGeom>
          <a:solidFill>
            <a:srgbClr val="D6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모델이 외부 도구와 데이터에 접근하는 표준 프로토콜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(USB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와 유사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)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90776B-ACDD-FF25-E58E-F85720887B08}"/>
              </a:ext>
            </a:extLst>
          </p:cNvPr>
          <p:cNvSpPr/>
          <p:nvPr/>
        </p:nvSpPr>
        <p:spPr>
          <a:xfrm>
            <a:off x="11319163" y="13137584"/>
            <a:ext cx="3082637" cy="1039478"/>
          </a:xfrm>
          <a:prstGeom prst="rect">
            <a:avLst/>
          </a:prstGeom>
          <a:solidFill>
            <a:srgbClr val="D6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텍스트 명령어로 컴퓨터를 조작하는 인터페이스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– AI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시대의 최강 도구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81B018-0765-9CCA-97DD-14CB264B2CC5}"/>
              </a:ext>
            </a:extLst>
          </p:cNvPr>
          <p:cNvSpPr/>
          <p:nvPr/>
        </p:nvSpPr>
        <p:spPr>
          <a:xfrm>
            <a:off x="11336482" y="21114197"/>
            <a:ext cx="3082637" cy="1039478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에게 최적의 맥락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(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배경정보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참고자료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)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을 체계적으로 설계하여 제공하는 기술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3291C4-70E4-6220-50CB-B7553C3BC8C4}"/>
              </a:ext>
            </a:extLst>
          </p:cNvPr>
          <p:cNvSpPr/>
          <p:nvPr/>
        </p:nvSpPr>
        <p:spPr>
          <a:xfrm>
            <a:off x="327397" y="24810489"/>
            <a:ext cx="2613734" cy="944980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텍스트 이미지 음성 영상 등 다양한 형태의 정보를 동시에 처리하는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0455FD-A5ED-4F26-B92B-2124AA21035B}"/>
              </a:ext>
            </a:extLst>
          </p:cNvPr>
          <p:cNvSpPr/>
          <p:nvPr/>
        </p:nvSpPr>
        <p:spPr>
          <a:xfrm>
            <a:off x="3019798" y="24847620"/>
            <a:ext cx="2989117" cy="1257769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자율적 판단 능력을 가지고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에이전트가 협업하거나 외부 시스템과 연동하여 복잡한 비즈니스 프로세스를 자동화하는 방향으로 발전중인 최신 트렌드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7F77114-CA47-4EFC-2CBD-79D9BAED8C67}"/>
              </a:ext>
            </a:extLst>
          </p:cNvPr>
          <p:cNvSpPr/>
          <p:nvPr/>
        </p:nvSpPr>
        <p:spPr>
          <a:xfrm>
            <a:off x="6087582" y="24789007"/>
            <a:ext cx="2533905" cy="1039478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가 답변 전 외부 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DB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에서 관련 정보를 먼저 검색하여 참고하는 기술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C234D5-9F62-28C7-FDA1-D3B60210D7E0}"/>
              </a:ext>
            </a:extLst>
          </p:cNvPr>
          <p:cNvSpPr/>
          <p:nvPr/>
        </p:nvSpPr>
        <p:spPr>
          <a:xfrm>
            <a:off x="8902828" y="24835810"/>
            <a:ext cx="2578832" cy="1039478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의 역할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행동 규칙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,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응답 방식을 사전 설정하는 기본 </a:t>
            </a:r>
            <a:r>
              <a:rPr lang="ko-KR" altLang="en-US" b="1" dirty="0" err="1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지시문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모든 대화에 걸쳐 지속 적용되는 설정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E287A6-5437-2F3C-B265-C3AA5C4DB4CE}"/>
              </a:ext>
            </a:extLst>
          </p:cNvPr>
          <p:cNvSpPr/>
          <p:nvPr/>
        </p:nvSpPr>
        <p:spPr>
          <a:xfrm>
            <a:off x="11588383" y="24818592"/>
            <a:ext cx="2830735" cy="1039478"/>
          </a:xfrm>
          <a:prstGeom prst="rect">
            <a:avLst/>
          </a:prstGeom>
          <a:solidFill>
            <a:srgbClr val="EDE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AI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에게 자연어로 설명하면 코드를 작성하여 소프트웨어를 만드는 방식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.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 예</a:t>
            </a:r>
            <a:r>
              <a:rPr lang="en-US" altLang="ko-KR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: </a:t>
            </a:r>
            <a:r>
              <a:rPr lang="ko-KR" altLang="en-US" b="1" dirty="0">
                <a:solidFill>
                  <a:srgbClr val="211D1A"/>
                </a:solidFill>
                <a:latin typeface="LG Smart UI Bold" panose="020B0800000101010101" pitchFamily="34" charset="-127"/>
                <a:ea typeface="LG Smart UI Bold" panose="020B0800000101010101" pitchFamily="34" charset="-127"/>
                <a:cs typeface="Cascadia Code SemiBold" panose="020B0609020000020004" pitchFamily="49" charset="0"/>
              </a:rPr>
              <a:t>고객 피드백 감성분석 페이지 생성</a:t>
            </a:r>
            <a:endParaRPr lang="ko-KR" altLang="en-US" sz="1200" b="1" dirty="0">
              <a:solidFill>
                <a:srgbClr val="211D1A"/>
              </a:solidFill>
              <a:latin typeface="LG Smart UI Bold" panose="020B0800000101010101" pitchFamily="34" charset="-127"/>
              <a:ea typeface="LG Smart UI Bold" panose="020B0800000101010101" pitchFamily="34" charset="-127"/>
              <a:cs typeface="Cascadia Code SemiBold" panose="020B06090200000200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282</Words>
  <Application>Microsoft Office PowerPoint</Application>
  <PresentationFormat>사용자 지정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LG Smart UI Bold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Hyun-Jung Kim</cp:lastModifiedBy>
  <cp:revision>4</cp:revision>
  <dcterms:created xsi:type="dcterms:W3CDTF">2013-01-27T09:14:16Z</dcterms:created>
  <dcterms:modified xsi:type="dcterms:W3CDTF">2026-03-22T15:58:44Z</dcterms:modified>
  <cp:category/>
</cp:coreProperties>
</file>